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1"/>
  </p:notesMasterIdLst>
  <p:sldIdLst>
    <p:sldId id="258" r:id="rId2"/>
    <p:sldId id="261" r:id="rId3"/>
    <p:sldId id="266" r:id="rId4"/>
    <p:sldId id="267" r:id="rId5"/>
    <p:sldId id="268" r:id="rId6"/>
    <p:sldId id="263" r:id="rId7"/>
    <p:sldId id="264" r:id="rId8"/>
    <p:sldId id="265" r:id="rId9"/>
    <p:sldId id="262" r:id="rId10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9B36D34-E8F7-4639-81B3-D94C0DEC891D}">
          <p14:sldIdLst>
            <p14:sldId id="258"/>
            <p14:sldId id="261"/>
            <p14:sldId id="266"/>
            <p14:sldId id="267"/>
            <p14:sldId id="268"/>
          </p14:sldIdLst>
        </p14:section>
        <p14:section name="backups" id="{3CCE26D1-FA6D-4EA7-93B6-ECE51645F605}">
          <p14:sldIdLst>
            <p14:sldId id="263"/>
            <p14:sldId id="264"/>
            <p14:sldId id="265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Loss in billon $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D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Loss in billon $</c:v>
                </c:pt>
              </c:strCache>
            </c:strRef>
          </c:tx>
          <c:explosion val="1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289D-4FD2-816C-E102D48E40A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89D-4FD2-816C-E102D48E40A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89D-4FD2-816C-E102D48E40AE}"/>
              </c:ext>
            </c:extLst>
          </c:dPt>
          <c:dLbls>
            <c:dLbl>
              <c:idx val="0"/>
              <c:layout>
                <c:manualLayout>
                  <c:x val="-0.1599225996206351"/>
                  <c:y val="2.901783092368128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DD97FDDE-9047-453C-A283-1F6060A92258}" type="VALUE">
                      <a:rPr lang="en-US">
                        <a:solidFill>
                          <a:schemeClr val="bg1"/>
                        </a:solidFill>
                      </a:rPr>
                      <a:pPr>
                        <a:defRPr/>
                      </a:pPr>
                      <a:t>[VALUE]</a:t>
                    </a:fld>
                    <a:r>
                      <a:rPr lang="en-US" baseline="0" dirty="0">
                        <a:solidFill>
                          <a:schemeClr val="bg1"/>
                        </a:solidFill>
                      </a:rPr>
                      <a:t>, </a:t>
                    </a:r>
                    <a:fld id="{CA332A32-0F6A-4336-B200-EE71D105F880}" type="PERCENTAGE">
                      <a:rPr lang="en-US" baseline="0">
                        <a:solidFill>
                          <a:schemeClr val="bg1"/>
                        </a:solidFill>
                      </a:rPr>
                      <a:pPr>
                        <a:defRPr/>
                      </a:pPr>
                      <a:t>[PERCENTAGE]</a:t>
                    </a:fld>
                    <a:endParaRPr lang="en-US" baseline="0" dirty="0">
                      <a:solidFill>
                        <a:schemeClr val="bg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619634858505804"/>
                      <c:h val="5.9173393765080719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289D-4FD2-816C-E102D48E40AE}"/>
                </c:ext>
              </c:extLst>
            </c:dLbl>
            <c:dLbl>
              <c:idx val="1"/>
              <c:layout>
                <c:manualLayout>
                  <c:x val="0.11984150741617025"/>
                  <c:y val="-0.10386332214834935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6024B729-5754-4C49-B90C-ADDC0B2A17A7}" type="VALUE">
                      <a:rPr lang="en-US">
                        <a:solidFill>
                          <a:schemeClr val="bg1"/>
                        </a:solidFill>
                      </a:rPr>
                      <a:pPr>
                        <a:defRPr/>
                      </a:pPr>
                      <a:t>[VALUE]</a:t>
                    </a:fld>
                    <a:r>
                      <a:rPr lang="en-US" baseline="0" dirty="0">
                        <a:solidFill>
                          <a:schemeClr val="bg1"/>
                        </a:solidFill>
                      </a:rPr>
                      <a:t>, </a:t>
                    </a:r>
                    <a:fld id="{86A3B6AD-AC67-4951-A22A-05A7C2D9EB74}" type="PERCENTAGE">
                      <a:rPr lang="en-US" baseline="0">
                        <a:solidFill>
                          <a:schemeClr val="bg1"/>
                        </a:solidFill>
                      </a:rPr>
                      <a:pPr>
                        <a:defRPr/>
                      </a:pPr>
                      <a:t>[PERCENTAGE]</a:t>
                    </a:fld>
                    <a:endParaRPr lang="en-US" baseline="0" dirty="0">
                      <a:solidFill>
                        <a:schemeClr val="bg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111842308688822"/>
                      <c:h val="5.6556260029340749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89D-4FD2-816C-E102D48E40AE}"/>
                </c:ext>
              </c:extLst>
            </c:dLbl>
            <c:dLbl>
              <c:idx val="2"/>
              <c:layout>
                <c:manualLayout>
                  <c:x val="8.4062924160049748E-2"/>
                  <c:y val="9.2884343090159027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C9950A49-9B54-4FC5-B4F0-EA40461F6F25}" type="VALUE">
                      <a:rPr lang="en-US">
                        <a:solidFill>
                          <a:schemeClr val="bg1"/>
                        </a:solidFill>
                      </a:rPr>
                      <a:pPr>
                        <a:defRPr/>
                      </a:pPr>
                      <a:t>[VALUE]</a:t>
                    </a:fld>
                    <a:r>
                      <a:rPr lang="en-US" baseline="0" dirty="0">
                        <a:solidFill>
                          <a:schemeClr val="bg1"/>
                        </a:solidFill>
                      </a:rPr>
                      <a:t>, </a:t>
                    </a:r>
                    <a:fld id="{E8F6D2F8-F948-4D32-A920-0CE4CBCEA5CF}" type="PERCENTAGE">
                      <a:rPr lang="en-US" baseline="0">
                        <a:solidFill>
                          <a:schemeClr val="bg1"/>
                        </a:solidFill>
                      </a:rPr>
                      <a:pPr>
                        <a:defRPr/>
                      </a:pPr>
                      <a:t>[PERCENTAGE]</a:t>
                    </a:fld>
                    <a:endParaRPr lang="en-US" baseline="0" dirty="0">
                      <a:solidFill>
                        <a:schemeClr val="bg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4347855755995136E-2"/>
                      <c:h val="5.393912629360078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89D-4FD2-816C-E102D48E40A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DE"/>
              </a:p>
            </c:txPr>
            <c:dLblPos val="in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Crops</c:v>
                </c:pt>
                <c:pt idx="1">
                  <c:v>Livestock</c:v>
                </c:pt>
                <c:pt idx="2">
                  <c:v>infrastructure 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7.2</c:v>
                </c:pt>
                <c:pt idx="1">
                  <c:v>5.5</c:v>
                </c:pt>
                <c:pt idx="2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9D-4FD2-816C-E102D48E40AE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1D75C-311F-4AE7-8FC1-39223509C01B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40240-379A-4907-ACD3-EC9DD382F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221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40240-379A-4907-ACD3-EC9DD382F07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77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7CDB7-E9BD-496F-FAC7-2775ED790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AA8EDC-A143-9238-7228-E2A2EA35C3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62422"/>
            <a:ext cx="3876136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B2A28E-01D5-A401-6398-DDCFFB1DA6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94097" y="3662363"/>
            <a:ext cx="3973903" cy="16557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Name and Email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9804334-E17E-54B8-466A-35D2832940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Ahmed Ibrahim Almohamed | SGRD </a:t>
            </a:r>
            <a:r>
              <a:rPr lang="en-US" dirty="0" err="1"/>
              <a:t>e.V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49BC81F-FCB2-44BD-7051-65525C7209F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9A565AB-231A-489D-AE6D-9935C8B1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542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2452-6C9E-05F7-4D17-123498FF9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A43BF-BE7B-F9B4-6724-B7F60189D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E413E-60BC-19EB-F629-F0115B2E06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5/15/2025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B96D4-C108-6BE8-0120-E3D214143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Ahmed Ibrahim Almohamed | SGRD </a:t>
            </a:r>
            <a:r>
              <a:rPr lang="en-US" dirty="0" err="1"/>
              <a:t>e.V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8DD5C-7E45-53A9-7E2E-851BDEA4F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65AB-231A-489D-AE6D-9935C8B1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25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A10A1-70E3-288E-2769-BD1225E86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7573B-89A2-1564-7386-127FF3344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CB09C-1957-6ACC-08F4-ED19BAE47E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5/15/2025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A2271-0B37-134D-94C2-49764DA91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Ahmed Ibrahim Almohamed | SGRD </a:t>
            </a:r>
            <a:r>
              <a:rPr lang="en-US" dirty="0" err="1"/>
              <a:t>e.V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76722-2380-230D-41F7-83C3FCA3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65AB-231A-489D-AE6D-9935C8B1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6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CDE7C-193A-1BB2-ADE7-571C13D86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7F2CD-A077-BE23-8371-FD527F5F7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C1B9AA-0C1D-FFA5-F463-34FF05FA85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53EADA-567A-0DF6-6DC9-E9519F9A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5/15/2025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F0E33-EE2F-5F5B-50D6-24C6B2C93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Ahmed Ibrahim Almohamed | SGRD </a:t>
            </a:r>
            <a:r>
              <a:rPr lang="en-US" dirty="0" err="1"/>
              <a:t>e.V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81715-8C1E-829C-61CB-4216713C0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65AB-231A-489D-AE6D-9935C8B1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08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40782-EF43-74B7-7C38-71A61D3C0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A656D-9F33-E9F4-7753-4E6E04359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165336-E8B1-8590-E67D-43153F3D3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C94D5B-EADC-6E7D-9870-5BEE7B672C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3F1405-D936-970A-5332-B38A47247F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2F2B7C-7135-18D9-EBDA-23C6E9C4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5/15/2025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69208D-1736-71D7-F8A3-D40A1F7A8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Ahmed Ibrahim Almohamed | SGRD e.V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3A912C-5A03-A124-AFD1-D4E4C80ED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65AB-231A-489D-AE6D-9935C8B1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228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FD68C-E8A0-69CB-57D7-32FCAE9A9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3C6883-BE79-684B-2235-7A407F7A2C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5/15/2025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0573A0-6220-7A21-63A0-4965B191B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Ahmed Ibrahim Almohamed | SGRD </a:t>
            </a:r>
            <a:r>
              <a:rPr lang="en-US" dirty="0" err="1"/>
              <a:t>e.V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0843D-D604-84DC-1481-08BDBB44E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65AB-231A-489D-AE6D-9935C8B1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357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A20D14-BB0A-4A16-7122-6D59DDBCEA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5/15/2025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4CF98D-6471-644D-7F9E-25E06428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Ahmed Ibrahim Almohamed | SGRD </a:t>
            </a:r>
            <a:r>
              <a:rPr lang="en-US" dirty="0" err="1"/>
              <a:t>e.V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7A3EC-33A9-F4E7-EDDE-A47344CF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65AB-231A-489D-AE6D-9935C8B1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41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8EF8C-2657-662D-CC6C-EF4E40D25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E920B-B119-6130-FE35-9DE7DA5FD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333700-6515-FB95-0E98-B8ADD46A4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11A49-284A-4A39-01A9-DDFC135A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5/15/2025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18D89-4809-B940-E15D-8C30C3994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Ahmed Ibrahim Almohamed | SGRD e.V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EC806-5968-83DD-6B99-DA08BBF3B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65AB-231A-489D-AE6D-9935C8B1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8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430AD-0D35-9752-F7EF-AE9682E12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9E9805-9195-F029-C047-D67E9E8874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24F8C-2893-2AC6-38B7-879E64AA7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5EB2F-8D2A-6959-425D-58C831038C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5/15/2025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247C6-0B47-79F9-F4DA-F2A81724C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Ahmed Ibrahim Almohamed | SGRD e.V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8EB08-901B-890D-EE5C-6F43E32F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65AB-231A-489D-AE6D-9935C8B1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512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C23E5-BD5A-3D03-4511-CD9E4A67C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C0A850-0275-A48D-975F-8B4994E7F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909F9-B46E-5008-7D72-22260EB1E5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5/15/2025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7A79A-C280-C73D-013A-F603EFEB5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Ahmed Ibrahim Almohamed | SGRD e.V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F48B5-2868-70B0-55A4-E4562B4F3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65AB-231A-489D-AE6D-9935C8B1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118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89A118-1E6B-29C1-B9F3-BDF9E2E73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D9318B-EBDF-2ED9-C299-90B7695D8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25C09-53EE-A36B-481A-094C38EAC4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5/15/2025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55031-BAE3-4C74-7489-48D1FB24A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Ahmed Ibrahim Almohamed | SGRD e.V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E5AC3-FAD4-5920-D0E5-CE60B473C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65AB-231A-489D-AE6D-9935C8B1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786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5200F-927E-1D05-3D62-C1FF89E7E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232"/>
            <a:ext cx="8696864" cy="9374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AC073-107C-43DF-D969-6A0241AB1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FC8E3-51CE-188D-561B-9CD291DEFD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49"/>
            <a:ext cx="76415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r>
              <a:rPr lang="en-US" dirty="0"/>
              <a:t>Ahmed Ibrahim Almohamed | SGRD </a:t>
            </a:r>
            <a:r>
              <a:rPr lang="en-US" dirty="0" err="1"/>
              <a:t>e.V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9A4E2-A81E-72A8-A1D3-456DE44FB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A565AB-231A-489D-AE6D-9935C8B13F8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logo with green letters and black text&#10;&#10;AI-generated content may be incorrect.">
            <a:extLst>
              <a:ext uri="{FF2B5EF4-FFF2-40B4-BE49-F238E27FC236}">
                <a16:creationId xmlns:a16="http://schemas.microsoft.com/office/drawing/2014/main" id="{F593A837-321B-7562-3F60-D00BEBD5ED5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3122" y="185738"/>
            <a:ext cx="1288216" cy="63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340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13E19-B36A-E638-8A91-54119E8CF9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Climate Resilience &amp; Agricultural Recovery in Syria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C70C1-E1E9-8192-3E7D-B86CCD78E3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 Multi-Regional Collaborative Research Initiative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F0E66B-2F40-0023-0099-696DD93FEA8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38200" y="6356349"/>
            <a:ext cx="7641566" cy="365125"/>
          </a:xfrm>
        </p:spPr>
        <p:txBody>
          <a:bodyPr/>
          <a:lstStyle/>
          <a:p>
            <a:pPr algn="l"/>
            <a:r>
              <a:rPr lang="en-US" dirty="0"/>
              <a:t>Ahmed Ibrahim Almohamed | SGRD e.V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5483A-182E-0E1F-22AC-4C0D34D37A8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9A565AB-231A-489D-AE6D-9935C8B13F85}" type="slidenum">
              <a:rPr lang="en-US" smtClean="0"/>
              <a:t>1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2E3DA5-1064-371F-5C62-AFA7104ECA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83325" y="3509963"/>
            <a:ext cx="3992881" cy="1655762"/>
          </a:xfrm>
        </p:spPr>
        <p:txBody>
          <a:bodyPr>
            <a:normAutofit/>
          </a:bodyPr>
          <a:lstStyle/>
          <a:p>
            <a:r>
              <a:rPr lang="en-GB" sz="2200" dirty="0"/>
              <a:t>Proposal by:</a:t>
            </a:r>
          </a:p>
          <a:p>
            <a:r>
              <a:rPr lang="en-GB" sz="1800" dirty="0"/>
              <a:t>Ahmed Ibrahim Almohamed</a:t>
            </a:r>
          </a:p>
          <a:p>
            <a:r>
              <a:rPr lang="en-GB" sz="2000" dirty="0"/>
              <a:t>Email:</a:t>
            </a:r>
          </a:p>
          <a:p>
            <a:r>
              <a:rPr lang="en-GB" sz="1800" dirty="0"/>
              <a:t>Ahmaedibrahim311</a:t>
            </a:r>
            <a:r>
              <a:rPr lang="en-US" sz="1800" dirty="0"/>
              <a:t>@gmail.com</a:t>
            </a:r>
          </a:p>
        </p:txBody>
      </p:sp>
    </p:spTree>
    <p:extLst>
      <p:ext uri="{BB962C8B-B14F-4D97-AF65-F5344CB8AC3E}">
        <p14:creationId xmlns:p14="http://schemas.microsoft.com/office/powerpoint/2010/main" val="3900244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80ED-01CD-3DE4-D2D0-07000BD02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Overview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B99C67-E696-12EC-EBD2-84FFFF3E7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Ahmed Ibrahim Almohamed | SGRD e.V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032C4-2DB4-BD4E-07C1-70EC2884A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65AB-231A-489D-AE6D-9935C8B13F85}" type="slidenum">
              <a:rPr lang="en-US" smtClean="0"/>
              <a:t>2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CD04817-3421-F4F3-EB4E-07BD9DEB3423}"/>
              </a:ext>
            </a:extLst>
          </p:cNvPr>
          <p:cNvGrpSpPr/>
          <p:nvPr/>
        </p:nvGrpSpPr>
        <p:grpSpPr>
          <a:xfrm>
            <a:off x="261366" y="1285696"/>
            <a:ext cx="2230978" cy="4059936"/>
            <a:chOff x="7073615" y="816964"/>
            <a:chExt cx="2322576" cy="4059936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54D5496C-A5FF-227F-FD8F-7F0FCE816598}"/>
                </a:ext>
              </a:extLst>
            </p:cNvPr>
            <p:cNvSpPr/>
            <p:nvPr/>
          </p:nvSpPr>
          <p:spPr>
            <a:xfrm>
              <a:off x="7073615" y="816964"/>
              <a:ext cx="2322576" cy="4059936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554DEDB-B169-17A1-FB32-32290D096BAD}"/>
                </a:ext>
              </a:extLst>
            </p:cNvPr>
            <p:cNvSpPr txBox="1"/>
            <p:nvPr/>
          </p:nvSpPr>
          <p:spPr>
            <a:xfrm>
              <a:off x="7407371" y="2744419"/>
              <a:ext cx="165506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Climate change and recurring droughts</a:t>
              </a:r>
            </a:p>
          </p:txBody>
        </p:sp>
        <p:pic>
          <p:nvPicPr>
            <p:cNvPr id="13" name="Picture 12" descr="A tree with veins and roots&#10;&#10;AI-generated content may be incorrect.">
              <a:extLst>
                <a:ext uri="{FF2B5EF4-FFF2-40B4-BE49-F238E27FC236}">
                  <a16:creationId xmlns:a16="http://schemas.microsoft.com/office/drawing/2014/main" id="{19EDE74D-FEFD-7603-F8C7-AFB6E75F5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38458" y="1510885"/>
              <a:ext cx="792890" cy="1029071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4D06859-CA50-80BD-B1F6-600E45465DCF}"/>
              </a:ext>
            </a:extLst>
          </p:cNvPr>
          <p:cNvGrpSpPr/>
          <p:nvPr/>
        </p:nvGrpSpPr>
        <p:grpSpPr>
          <a:xfrm>
            <a:off x="2617504" y="1303666"/>
            <a:ext cx="2230978" cy="4059936"/>
            <a:chOff x="7073615" y="1333454"/>
            <a:chExt cx="2322576" cy="405993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85EAD73-A8DC-2BDE-5E54-98359F45B8FA}"/>
                </a:ext>
              </a:extLst>
            </p:cNvPr>
            <p:cNvGrpSpPr/>
            <p:nvPr/>
          </p:nvGrpSpPr>
          <p:grpSpPr>
            <a:xfrm>
              <a:off x="7073615" y="1333454"/>
              <a:ext cx="2322576" cy="4059936"/>
              <a:chOff x="7073615" y="816964"/>
              <a:chExt cx="2322576" cy="4059936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F5B34A34-8266-A17C-BFB1-C16831E0EFE0}"/>
                  </a:ext>
                </a:extLst>
              </p:cNvPr>
              <p:cNvSpPr/>
              <p:nvPr/>
            </p:nvSpPr>
            <p:spPr>
              <a:xfrm>
                <a:off x="7073615" y="816964"/>
                <a:ext cx="2322576" cy="4059936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EB227A1-C470-7B2B-B327-68DFA5B8C7F1}"/>
                  </a:ext>
                </a:extLst>
              </p:cNvPr>
              <p:cNvSpPr txBox="1"/>
              <p:nvPr/>
            </p:nvSpPr>
            <p:spPr>
              <a:xfrm>
                <a:off x="7407371" y="2744419"/>
                <a:ext cx="165506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Shortage of farmers due to conflict</a:t>
                </a:r>
              </a:p>
            </p:txBody>
          </p:sp>
        </p:grpSp>
        <p:pic>
          <p:nvPicPr>
            <p:cNvPr id="17" name="Picture 16" descr="A person walking with a backpack&#10;&#10;AI-generated content may be incorrect.">
              <a:extLst>
                <a:ext uri="{FF2B5EF4-FFF2-40B4-BE49-F238E27FC236}">
                  <a16:creationId xmlns:a16="http://schemas.microsoft.com/office/drawing/2014/main" id="{4784E072-F1FF-1C38-B002-6F6046176D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38458" y="1830019"/>
              <a:ext cx="792890" cy="1251364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7918376-F55E-A4E7-A003-2F7FE4BDFEF1}"/>
              </a:ext>
            </a:extLst>
          </p:cNvPr>
          <p:cNvGrpSpPr/>
          <p:nvPr/>
        </p:nvGrpSpPr>
        <p:grpSpPr>
          <a:xfrm>
            <a:off x="4973642" y="1285696"/>
            <a:ext cx="2230978" cy="4059936"/>
            <a:chOff x="8406600" y="1258774"/>
            <a:chExt cx="2322576" cy="4059936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6D83DFC-F0D9-9263-2B50-09BD557EFB0F}"/>
                </a:ext>
              </a:extLst>
            </p:cNvPr>
            <p:cNvGrpSpPr/>
            <p:nvPr/>
          </p:nvGrpSpPr>
          <p:grpSpPr>
            <a:xfrm>
              <a:off x="8406600" y="1258774"/>
              <a:ext cx="2322576" cy="4059936"/>
              <a:chOff x="7073615" y="816964"/>
              <a:chExt cx="2322576" cy="4059936"/>
            </a:xfrm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00D7165E-625C-2053-849E-C9D149C58D67}"/>
                  </a:ext>
                </a:extLst>
              </p:cNvPr>
              <p:cNvSpPr/>
              <p:nvPr/>
            </p:nvSpPr>
            <p:spPr>
              <a:xfrm>
                <a:off x="7073615" y="816964"/>
                <a:ext cx="2322576" cy="4059936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32BCE1E-7AA3-9FC8-A173-59D2569287E1}"/>
                  </a:ext>
                </a:extLst>
              </p:cNvPr>
              <p:cNvSpPr txBox="1"/>
              <p:nvPr/>
            </p:nvSpPr>
            <p:spPr>
              <a:xfrm>
                <a:off x="7407371" y="2744419"/>
                <a:ext cx="165506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Lack of updated data and research losses after the war</a:t>
                </a:r>
              </a:p>
            </p:txBody>
          </p:sp>
        </p:grpSp>
        <p:pic>
          <p:nvPicPr>
            <p:cNvPr id="15" name="Picture 14" descr="A red circle with a black background&#10;&#10;AI-generated content may be incorrect.">
              <a:extLst>
                <a:ext uri="{FF2B5EF4-FFF2-40B4-BE49-F238E27FC236}">
                  <a16:creationId xmlns:a16="http://schemas.microsoft.com/office/drawing/2014/main" id="{469BC884-A555-A5BF-D165-7F01C4586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64220" y="1825471"/>
              <a:ext cx="1141688" cy="1141688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A338BFE-6E94-B194-338C-9F97F98BCFBE}"/>
              </a:ext>
            </a:extLst>
          </p:cNvPr>
          <p:cNvGrpSpPr/>
          <p:nvPr/>
        </p:nvGrpSpPr>
        <p:grpSpPr>
          <a:xfrm>
            <a:off x="7329780" y="1285696"/>
            <a:ext cx="2230978" cy="4059936"/>
            <a:chOff x="8610600" y="1294444"/>
            <a:chExt cx="2322576" cy="4059936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633B5C2-E5A0-8926-ADF6-4A607C96C5EF}"/>
                </a:ext>
              </a:extLst>
            </p:cNvPr>
            <p:cNvGrpSpPr/>
            <p:nvPr/>
          </p:nvGrpSpPr>
          <p:grpSpPr>
            <a:xfrm>
              <a:off x="8610600" y="1294444"/>
              <a:ext cx="2322576" cy="4059936"/>
              <a:chOff x="7073615" y="816964"/>
              <a:chExt cx="2322576" cy="4059936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EA8917BC-4268-3262-1846-303CA0620A89}"/>
                  </a:ext>
                </a:extLst>
              </p:cNvPr>
              <p:cNvSpPr/>
              <p:nvPr/>
            </p:nvSpPr>
            <p:spPr>
              <a:xfrm>
                <a:off x="7073615" y="816964"/>
                <a:ext cx="2322576" cy="4059936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88EF8CB-83E1-9861-4D51-EF78D8A9C574}"/>
                  </a:ext>
                </a:extLst>
              </p:cNvPr>
              <p:cNvSpPr txBox="1"/>
              <p:nvPr/>
            </p:nvSpPr>
            <p:spPr>
              <a:xfrm>
                <a:off x="7379486" y="2744419"/>
                <a:ext cx="180445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Destroyed and outdated irrigation systems across the country</a:t>
                </a:r>
              </a:p>
            </p:txBody>
          </p:sp>
        </p:grpSp>
        <p:pic>
          <p:nvPicPr>
            <p:cNvPr id="23" name="Picture 22" descr="A blue pipe with a drop of water coming out of it&#10;&#10;AI-generated content may be incorrect.">
              <a:extLst>
                <a:ext uri="{FF2B5EF4-FFF2-40B4-BE49-F238E27FC236}">
                  <a16:creationId xmlns:a16="http://schemas.microsoft.com/office/drawing/2014/main" id="{4477B1B9-5BCD-B8E3-2FD1-D1C16ED83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06831" y="1927639"/>
              <a:ext cx="930113" cy="1063668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D1560B2-CB8A-388A-3FFC-F15461FF93AB}"/>
              </a:ext>
            </a:extLst>
          </p:cNvPr>
          <p:cNvGrpSpPr/>
          <p:nvPr/>
        </p:nvGrpSpPr>
        <p:grpSpPr>
          <a:xfrm>
            <a:off x="9685919" y="1285696"/>
            <a:ext cx="2230978" cy="4059936"/>
            <a:chOff x="9128888" y="1171265"/>
            <a:chExt cx="2322576" cy="4059936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ECE68E7-733C-E186-B8AB-9DA6BDB426F6}"/>
                </a:ext>
              </a:extLst>
            </p:cNvPr>
            <p:cNvGrpSpPr/>
            <p:nvPr/>
          </p:nvGrpSpPr>
          <p:grpSpPr>
            <a:xfrm>
              <a:off x="9128888" y="1171265"/>
              <a:ext cx="2322576" cy="4059936"/>
              <a:chOff x="7073615" y="816964"/>
              <a:chExt cx="2322576" cy="4059936"/>
            </a:xfrm>
          </p:grpSpPr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E412BAF1-E536-3825-005E-EE3693F95FB6}"/>
                  </a:ext>
                </a:extLst>
              </p:cNvPr>
              <p:cNvSpPr/>
              <p:nvPr/>
            </p:nvSpPr>
            <p:spPr>
              <a:xfrm>
                <a:off x="7073615" y="816964"/>
                <a:ext cx="2322576" cy="4059936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E43F238-D89D-C2B4-37C7-9074606EE55A}"/>
                  </a:ext>
                </a:extLst>
              </p:cNvPr>
              <p:cNvSpPr txBox="1"/>
              <p:nvPr/>
            </p:nvSpPr>
            <p:spPr>
              <a:xfrm>
                <a:off x="7407371" y="2744419"/>
                <a:ext cx="165506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Impact of low rainfall on rainfed crops</a:t>
                </a:r>
              </a:p>
            </p:txBody>
          </p:sp>
        </p:grpSp>
        <p:pic>
          <p:nvPicPr>
            <p:cNvPr id="21" name="Graphic 20" descr="Crops with solid fill">
              <a:extLst>
                <a:ext uri="{FF2B5EF4-FFF2-40B4-BE49-F238E27FC236}">
                  <a16:creationId xmlns:a16="http://schemas.microsoft.com/office/drawing/2014/main" id="{329C461F-E0B0-3082-957B-BCD64F95A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832976" y="187244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4413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3AB33-A6E3-52C0-165A-2D7B7A6B4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Framework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434328-66AF-F60B-1370-307B56C29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Ahmed Ibrahim Almohamed | SGRD e.V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764DF-5B4B-B37F-7CCD-79EF26194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65AB-231A-489D-AE6D-9935C8B13F85}" type="slidenum">
              <a:rPr lang="en-US" smtClean="0"/>
              <a:t>3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46C6A15-76F0-F1C9-DD54-55FB5EE2E321}"/>
              </a:ext>
            </a:extLst>
          </p:cNvPr>
          <p:cNvGrpSpPr/>
          <p:nvPr/>
        </p:nvGrpSpPr>
        <p:grpSpPr>
          <a:xfrm>
            <a:off x="642208" y="1285696"/>
            <a:ext cx="3108960" cy="3889808"/>
            <a:chOff x="2818480" y="1285696"/>
            <a:chExt cx="3108960" cy="388980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103AECA-C6BF-020D-00B3-4989BC2C9499}"/>
                </a:ext>
              </a:extLst>
            </p:cNvPr>
            <p:cNvGrpSpPr/>
            <p:nvPr/>
          </p:nvGrpSpPr>
          <p:grpSpPr>
            <a:xfrm>
              <a:off x="2818480" y="1285696"/>
              <a:ext cx="3108960" cy="3889808"/>
              <a:chOff x="2818480" y="1285696"/>
              <a:chExt cx="3108960" cy="3889808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59C44DC7-9EAF-95F9-EFFE-5335005977A4}"/>
                  </a:ext>
                </a:extLst>
              </p:cNvPr>
              <p:cNvSpPr/>
              <p:nvPr/>
            </p:nvSpPr>
            <p:spPr>
              <a:xfrm>
                <a:off x="2818480" y="1285696"/>
                <a:ext cx="3108960" cy="388980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A5D699A-73FF-B035-352C-7B0ECBD76D96}"/>
                  </a:ext>
                </a:extLst>
              </p:cNvPr>
              <p:cNvSpPr txBox="1"/>
              <p:nvPr/>
            </p:nvSpPr>
            <p:spPr>
              <a:xfrm>
                <a:off x="3687160" y="1497830"/>
                <a:ext cx="1371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Pillar 1 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64EB241-9504-1449-6813-4397C863FF7A}"/>
                </a:ext>
              </a:extLst>
            </p:cNvPr>
            <p:cNvSpPr txBox="1"/>
            <p:nvPr/>
          </p:nvSpPr>
          <p:spPr>
            <a:xfrm>
              <a:off x="3234647" y="1953681"/>
              <a:ext cx="23408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Research and Innovation 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064C3D0-6174-0939-9934-1E5C3FAFF6BB}"/>
                </a:ext>
              </a:extLst>
            </p:cNvPr>
            <p:cNvSpPr txBox="1"/>
            <p:nvPr/>
          </p:nvSpPr>
          <p:spPr>
            <a:xfrm>
              <a:off x="3202528" y="2718939"/>
              <a:ext cx="2340864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Create research hubs to collect and analyze data from different sources (e.g Remote sensing , field surveys, smart sensing)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61BC4F0-D9D5-7054-9F14-1C3E630D3039}"/>
              </a:ext>
            </a:extLst>
          </p:cNvPr>
          <p:cNvGrpSpPr/>
          <p:nvPr/>
        </p:nvGrpSpPr>
        <p:grpSpPr>
          <a:xfrm>
            <a:off x="4619359" y="1285696"/>
            <a:ext cx="3108960" cy="3889808"/>
            <a:chOff x="6096000" y="1285696"/>
            <a:chExt cx="3108960" cy="388980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EA66903-974B-3AA5-D991-D742F8D27924}"/>
                </a:ext>
              </a:extLst>
            </p:cNvPr>
            <p:cNvGrpSpPr/>
            <p:nvPr/>
          </p:nvGrpSpPr>
          <p:grpSpPr>
            <a:xfrm>
              <a:off x="6096000" y="1285696"/>
              <a:ext cx="3108960" cy="3889808"/>
              <a:chOff x="6096000" y="1285696"/>
              <a:chExt cx="3108960" cy="3889808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CA34126-63DD-23AB-C394-B944CC4889F6}"/>
                  </a:ext>
                </a:extLst>
              </p:cNvPr>
              <p:cNvSpPr/>
              <p:nvPr/>
            </p:nvSpPr>
            <p:spPr>
              <a:xfrm>
                <a:off x="6096000" y="1285696"/>
                <a:ext cx="3108960" cy="388980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7DB277-3A64-8185-2CC1-2C27D263A80C}"/>
                  </a:ext>
                </a:extLst>
              </p:cNvPr>
              <p:cNvSpPr txBox="1"/>
              <p:nvPr/>
            </p:nvSpPr>
            <p:spPr>
              <a:xfrm>
                <a:off x="6964680" y="1543550"/>
                <a:ext cx="1371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Pillar 2 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52F0D32-FCA5-0E72-4F4B-1F1ED315F936}"/>
                </a:ext>
              </a:extLst>
            </p:cNvPr>
            <p:cNvSpPr txBox="1"/>
            <p:nvPr/>
          </p:nvSpPr>
          <p:spPr>
            <a:xfrm>
              <a:off x="6480048" y="2133972"/>
              <a:ext cx="23408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Field implementation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3D4FC89-4FD9-F413-1ADE-C939DAA98C53}"/>
                </a:ext>
              </a:extLst>
            </p:cNvPr>
            <p:cNvSpPr txBox="1"/>
            <p:nvPr/>
          </p:nvSpPr>
          <p:spPr>
            <a:xfrm>
              <a:off x="6480048" y="2724394"/>
              <a:ext cx="2340864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On-the-ground pilots of climate smart farming solutions (e.g drought-tolerant seeds , smart drip irrigation systems ,soil conservation)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1B5103C-0BEF-540F-E081-0785486B56BA}"/>
              </a:ext>
            </a:extLst>
          </p:cNvPr>
          <p:cNvGrpSpPr/>
          <p:nvPr/>
        </p:nvGrpSpPr>
        <p:grpSpPr>
          <a:xfrm>
            <a:off x="8596510" y="1285696"/>
            <a:ext cx="3108960" cy="3889808"/>
            <a:chOff x="6096000" y="1285696"/>
            <a:chExt cx="3108960" cy="388980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D97B169-68F8-C547-CE50-4CEE247B31F7}"/>
                </a:ext>
              </a:extLst>
            </p:cNvPr>
            <p:cNvGrpSpPr/>
            <p:nvPr/>
          </p:nvGrpSpPr>
          <p:grpSpPr>
            <a:xfrm>
              <a:off x="6096000" y="1285696"/>
              <a:ext cx="3108960" cy="3889808"/>
              <a:chOff x="6096000" y="1285696"/>
              <a:chExt cx="3108960" cy="3889808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8E71198F-D08A-FF55-2E4B-D775A71EDBFC}"/>
                  </a:ext>
                </a:extLst>
              </p:cNvPr>
              <p:cNvSpPr/>
              <p:nvPr/>
            </p:nvSpPr>
            <p:spPr>
              <a:xfrm>
                <a:off x="6096000" y="1285696"/>
                <a:ext cx="3108960" cy="3889808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AEDD851-39FB-E37C-0EDD-B02CDA425CF1}"/>
                  </a:ext>
                </a:extLst>
              </p:cNvPr>
              <p:cNvSpPr txBox="1"/>
              <p:nvPr/>
            </p:nvSpPr>
            <p:spPr>
              <a:xfrm>
                <a:off x="6964680" y="1543550"/>
                <a:ext cx="1371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Pillar 3 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7804D60-E05C-EE16-51E0-0DEC61622A0C}"/>
                </a:ext>
              </a:extLst>
            </p:cNvPr>
            <p:cNvSpPr txBox="1"/>
            <p:nvPr/>
          </p:nvSpPr>
          <p:spPr>
            <a:xfrm>
              <a:off x="6480048" y="2133972"/>
              <a:ext cx="23408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Collaboration &amp; Scaling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7A9C022-AEE0-7C3A-5EA8-412C776209AB}"/>
                </a:ext>
              </a:extLst>
            </p:cNvPr>
            <p:cNvSpPr txBox="1"/>
            <p:nvPr/>
          </p:nvSpPr>
          <p:spPr>
            <a:xfrm>
              <a:off x="6480048" y="2724394"/>
              <a:ext cx="2340864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Formal partnerships with Syrian universities, ministries and NGOs to co-design activities, share data, and scale successful practices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8140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9B129-8366-C84F-FE16-E02AB715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 in Action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240724-1EC7-8E28-6145-761CA3E5B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Ahmed Ibrahim Almohamed | SGRD e.V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468C7-AFED-55FB-5124-36043D08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65AB-231A-489D-AE6D-9935C8B13F85}" type="slidenum">
              <a:rPr lang="en-US" smtClean="0"/>
              <a:t>4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326AC36-BBE5-488E-E849-9AD235FDC418}"/>
              </a:ext>
            </a:extLst>
          </p:cNvPr>
          <p:cNvGrpSpPr/>
          <p:nvPr/>
        </p:nvGrpSpPr>
        <p:grpSpPr>
          <a:xfrm>
            <a:off x="401192" y="1180845"/>
            <a:ext cx="11389615" cy="5175504"/>
            <a:chOff x="296418" y="813816"/>
            <a:chExt cx="11599165" cy="523036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18EBFA9-3357-AD3B-11E0-AD0A20FA7D9D}"/>
                </a:ext>
              </a:extLst>
            </p:cNvPr>
            <p:cNvGrpSpPr/>
            <p:nvPr/>
          </p:nvGrpSpPr>
          <p:grpSpPr>
            <a:xfrm>
              <a:off x="3666118" y="813816"/>
              <a:ext cx="4859764" cy="5230368"/>
              <a:chOff x="3028705" y="1681362"/>
              <a:chExt cx="4859764" cy="5230368"/>
            </a:xfrm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4D1DB1DB-3E5D-3905-69D9-94FA8A702E92}"/>
                  </a:ext>
                </a:extLst>
              </p:cNvPr>
              <p:cNvSpPr/>
              <p:nvPr/>
            </p:nvSpPr>
            <p:spPr>
              <a:xfrm>
                <a:off x="3028705" y="1681362"/>
                <a:ext cx="4859764" cy="5230368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E12CEB74-B495-3338-E367-C45330B3F9B0}"/>
                  </a:ext>
                </a:extLst>
              </p:cNvPr>
              <p:cNvGrpSpPr/>
              <p:nvPr/>
            </p:nvGrpSpPr>
            <p:grpSpPr>
              <a:xfrm>
                <a:off x="4525899" y="1943148"/>
                <a:ext cx="1865376" cy="1498465"/>
                <a:chOff x="5199507" y="2532994"/>
                <a:chExt cx="1865376" cy="1498465"/>
              </a:xfrm>
            </p:grpSpPr>
            <p:pic>
              <p:nvPicPr>
                <p:cNvPr id="36" name="Picture 35">
                  <a:extLst>
                    <a:ext uri="{FF2B5EF4-FFF2-40B4-BE49-F238E27FC236}">
                      <a16:creationId xmlns:a16="http://schemas.microsoft.com/office/drawing/2014/main" id="{C5933080-3F90-6CCE-7441-44CE968B73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583555" y="2934179"/>
                  <a:ext cx="1097280" cy="1097280"/>
                </a:xfrm>
                <a:prstGeom prst="rect">
                  <a:avLst/>
                </a:prstGeom>
              </p:spPr>
            </p:pic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4DFB2AA-55B2-8500-D7A7-0D99E29B4ABD}"/>
                    </a:ext>
                  </a:extLst>
                </p:cNvPr>
                <p:cNvSpPr txBox="1"/>
                <p:nvPr/>
              </p:nvSpPr>
              <p:spPr>
                <a:xfrm>
                  <a:off x="5199507" y="2532994"/>
                  <a:ext cx="18653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Framework</a:t>
                  </a: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F965E57-ADEE-A8CA-2F8F-F5B1BCD07E5D}"/>
                </a:ext>
              </a:extLst>
            </p:cNvPr>
            <p:cNvGrpSpPr/>
            <p:nvPr/>
          </p:nvGrpSpPr>
          <p:grpSpPr>
            <a:xfrm>
              <a:off x="296418" y="930402"/>
              <a:ext cx="2318385" cy="4880610"/>
              <a:chOff x="296418" y="1046988"/>
              <a:chExt cx="2711958" cy="4764024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48CC5624-7210-A9D4-D190-643641719A73}"/>
                  </a:ext>
                </a:extLst>
              </p:cNvPr>
              <p:cNvSpPr/>
              <p:nvPr/>
            </p:nvSpPr>
            <p:spPr>
              <a:xfrm>
                <a:off x="296418" y="1046988"/>
                <a:ext cx="2711958" cy="4764024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65B6DCE-6A82-845E-EE4A-B1BEE91CD308}"/>
                  </a:ext>
                </a:extLst>
              </p:cNvPr>
              <p:cNvSpPr txBox="1"/>
              <p:nvPr/>
            </p:nvSpPr>
            <p:spPr>
              <a:xfrm>
                <a:off x="669416" y="1188720"/>
                <a:ext cx="1965960" cy="384048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Inputs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A76C66F-4AA7-33A4-76ED-073A96257AED}"/>
                </a:ext>
              </a:extLst>
            </p:cNvPr>
            <p:cNvGrpSpPr/>
            <p:nvPr/>
          </p:nvGrpSpPr>
          <p:grpSpPr>
            <a:xfrm>
              <a:off x="9051541" y="988694"/>
              <a:ext cx="2844042" cy="5055489"/>
              <a:chOff x="296418" y="1046988"/>
              <a:chExt cx="2711958" cy="4764024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A4757276-9CD4-830B-26CD-39EE6BF9B1A5}"/>
                  </a:ext>
                </a:extLst>
              </p:cNvPr>
              <p:cNvSpPr/>
              <p:nvPr/>
            </p:nvSpPr>
            <p:spPr>
              <a:xfrm>
                <a:off x="296418" y="1046988"/>
                <a:ext cx="2711958" cy="4764024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D550911-BB58-83A2-76D1-1D47739FE3A8}"/>
                  </a:ext>
                </a:extLst>
              </p:cNvPr>
              <p:cNvSpPr txBox="1"/>
              <p:nvPr/>
            </p:nvSpPr>
            <p:spPr>
              <a:xfrm>
                <a:off x="669416" y="1188720"/>
                <a:ext cx="1965960" cy="3605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Outputs</a:t>
                </a:r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679905-750D-CC68-F0FA-CF59DBFF5D95}"/>
                </a:ext>
              </a:extLst>
            </p:cNvPr>
            <p:cNvSpPr/>
            <p:nvPr/>
          </p:nvSpPr>
          <p:spPr>
            <a:xfrm>
              <a:off x="382047" y="2014385"/>
              <a:ext cx="2147126" cy="737959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Fundings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419E7C9-0EC8-19E9-C9FA-365A4C4F1C98}"/>
                </a:ext>
              </a:extLst>
            </p:cNvPr>
            <p:cNvSpPr/>
            <p:nvPr/>
          </p:nvSpPr>
          <p:spPr>
            <a:xfrm>
              <a:off x="382047" y="3001727"/>
              <a:ext cx="2147126" cy="737959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Technical expertise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AB3AA73-378F-A89A-519F-A73C94FAF007}"/>
                </a:ext>
              </a:extLst>
            </p:cNvPr>
            <p:cNvSpPr/>
            <p:nvPr/>
          </p:nvSpPr>
          <p:spPr>
            <a:xfrm>
              <a:off x="382047" y="3989069"/>
              <a:ext cx="2147126" cy="737959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Resources</a:t>
              </a:r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C1671F3B-EA4F-0599-9511-550651911283}"/>
                </a:ext>
              </a:extLst>
            </p:cNvPr>
            <p:cNvSpPr/>
            <p:nvPr/>
          </p:nvSpPr>
          <p:spPr>
            <a:xfrm>
              <a:off x="2407794" y="982437"/>
              <a:ext cx="1518944" cy="1005840"/>
            </a:xfrm>
            <a:prstGeom prst="rightArrow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AC61638-6EFC-A094-B75B-5C9BCD2BD9DB}"/>
                </a:ext>
              </a:extLst>
            </p:cNvPr>
            <p:cNvSpPr/>
            <p:nvPr/>
          </p:nvSpPr>
          <p:spPr>
            <a:xfrm>
              <a:off x="3948418" y="3419645"/>
              <a:ext cx="1309382" cy="56942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Field surveys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9E89467-914F-245F-C382-2622D9CD287C}"/>
                </a:ext>
              </a:extLst>
            </p:cNvPr>
            <p:cNvCxnSpPr>
              <a:cxnSpLocks/>
            </p:cNvCxnSpPr>
            <p:nvPr/>
          </p:nvCxnSpPr>
          <p:spPr>
            <a:xfrm>
              <a:off x="4910471" y="3118104"/>
              <a:ext cx="237105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9103F2F-F820-7D7C-90B9-68701D453074}"/>
                </a:ext>
              </a:extLst>
            </p:cNvPr>
            <p:cNvCxnSpPr>
              <a:cxnSpLocks/>
            </p:cNvCxnSpPr>
            <p:nvPr/>
          </p:nvCxnSpPr>
          <p:spPr>
            <a:xfrm>
              <a:off x="4910471" y="3197352"/>
              <a:ext cx="237105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ACB7A50-89AF-20CE-B4DE-CA78771F6054}"/>
                </a:ext>
              </a:extLst>
            </p:cNvPr>
            <p:cNvSpPr txBox="1"/>
            <p:nvPr/>
          </p:nvSpPr>
          <p:spPr>
            <a:xfrm>
              <a:off x="5126212" y="2705648"/>
              <a:ext cx="19395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Activities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1B2CE83-ABCC-5F35-BBBD-2FDFDAE7289B}"/>
                </a:ext>
              </a:extLst>
            </p:cNvPr>
            <p:cNvSpPr/>
            <p:nvPr/>
          </p:nvSpPr>
          <p:spPr>
            <a:xfrm>
              <a:off x="5441309" y="3419644"/>
              <a:ext cx="1309382" cy="56942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Satellite analysis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6D330AA-9C5E-1B8B-1152-A8FA5B1084FF}"/>
                </a:ext>
              </a:extLst>
            </p:cNvPr>
            <p:cNvSpPr/>
            <p:nvPr/>
          </p:nvSpPr>
          <p:spPr>
            <a:xfrm>
              <a:off x="6897632" y="3419643"/>
              <a:ext cx="1309382" cy="56942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 modeling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8C9E7DB-8C91-E2A6-5F0A-421499953E58}"/>
                </a:ext>
              </a:extLst>
            </p:cNvPr>
            <p:cNvSpPr/>
            <p:nvPr/>
          </p:nvSpPr>
          <p:spPr>
            <a:xfrm>
              <a:off x="3948418" y="4050983"/>
              <a:ext cx="4258596" cy="4112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Pilot trials of climate-smart farming 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2CF8C82-DD51-2819-4A21-CB5ACE117E70}"/>
                </a:ext>
              </a:extLst>
            </p:cNvPr>
            <p:cNvSpPr/>
            <p:nvPr/>
          </p:nvSpPr>
          <p:spPr>
            <a:xfrm>
              <a:off x="3948418" y="4520112"/>
              <a:ext cx="1309382" cy="56942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Farmer training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4C498CC-D89F-F3F2-1EE1-3BC62B2410C9}"/>
                </a:ext>
              </a:extLst>
            </p:cNvPr>
            <p:cNvSpPr/>
            <p:nvPr/>
          </p:nvSpPr>
          <p:spPr>
            <a:xfrm>
              <a:off x="5335258" y="4520112"/>
              <a:ext cx="2871756" cy="56942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Community workshops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EDB2A69-BF97-0E9A-CDEE-58146BA75DA5}"/>
                </a:ext>
              </a:extLst>
            </p:cNvPr>
            <p:cNvSpPr/>
            <p:nvPr/>
          </p:nvSpPr>
          <p:spPr>
            <a:xfrm>
              <a:off x="3948418" y="5147377"/>
              <a:ext cx="4258596" cy="56942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Repair of irrigation systems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C91D057-C0AD-AE5E-1FFC-A6AD12EDD11A}"/>
                </a:ext>
              </a:extLst>
            </p:cNvPr>
            <p:cNvSpPr/>
            <p:nvPr/>
          </p:nvSpPr>
          <p:spPr>
            <a:xfrm>
              <a:off x="9098106" y="1619298"/>
              <a:ext cx="2758413" cy="737959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Adoption of resilient farming practices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C91964F-9BEF-8E2C-5508-531640726D6F}"/>
                </a:ext>
              </a:extLst>
            </p:cNvPr>
            <p:cNvSpPr/>
            <p:nvPr/>
          </p:nvSpPr>
          <p:spPr>
            <a:xfrm>
              <a:off x="9098106" y="2405584"/>
              <a:ext cx="2758413" cy="737959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Increased crop yields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25FEEDA-9787-91F3-4F66-03AF3BCE1596}"/>
                </a:ext>
              </a:extLst>
            </p:cNvPr>
            <p:cNvSpPr/>
            <p:nvPr/>
          </p:nvSpPr>
          <p:spPr>
            <a:xfrm>
              <a:off x="9098106" y="3978156"/>
              <a:ext cx="2758413" cy="737959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Improved water-use efficiency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A119061-8D84-77AF-324C-A71962AF8ECF}"/>
                </a:ext>
              </a:extLst>
            </p:cNvPr>
            <p:cNvSpPr/>
            <p:nvPr/>
          </p:nvSpPr>
          <p:spPr>
            <a:xfrm>
              <a:off x="9098106" y="4764442"/>
              <a:ext cx="2758413" cy="737959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National-wide database for farming and climate data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ECCE847-6000-3D7C-5CB4-D2A9E49F9DA1}"/>
                </a:ext>
              </a:extLst>
            </p:cNvPr>
            <p:cNvSpPr/>
            <p:nvPr/>
          </p:nvSpPr>
          <p:spPr>
            <a:xfrm>
              <a:off x="9098106" y="3191870"/>
              <a:ext cx="2758413" cy="737959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Strengthened farmer networks and local research capacity</a:t>
              </a:r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AFDE3310-3439-B901-28AF-5D3C2C7B778E}"/>
                </a:ext>
              </a:extLst>
            </p:cNvPr>
            <p:cNvSpPr/>
            <p:nvPr/>
          </p:nvSpPr>
          <p:spPr>
            <a:xfrm>
              <a:off x="7877416" y="930402"/>
              <a:ext cx="1518944" cy="1005840"/>
            </a:xfrm>
            <a:prstGeom prst="rightArrow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E7F970F-4752-EB1C-00E5-36617ECF2549}"/>
                </a:ext>
              </a:extLst>
            </p:cNvPr>
            <p:cNvSpPr txBox="1"/>
            <p:nvPr/>
          </p:nvSpPr>
          <p:spPr>
            <a:xfrm>
              <a:off x="1281874" y="4764442"/>
              <a:ext cx="3474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.</a:t>
              </a:r>
            </a:p>
            <a:p>
              <a:pPr algn="ctr"/>
              <a:r>
                <a:rPr lang="en-US" dirty="0"/>
                <a:t>.</a:t>
              </a:r>
            </a:p>
            <a:p>
              <a:pPr algn="ctr"/>
              <a:r>
                <a:rPr lang="en-US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8447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F25D0-A936-94EC-3A80-DD710E9D8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results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0FAD9D-F646-3F46-19AE-13F428E94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Ahmed Ibrahim Almohamed | SGRD e.V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D7C83-2ECD-42AD-DD2B-2CBFC0188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65AB-231A-489D-AE6D-9935C8B13F85}" type="slidenum">
              <a:rPr lang="en-US" smtClean="0"/>
              <a:t>5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0E5A841-95DA-99E0-D6AD-6E863FCFCD80}"/>
              </a:ext>
            </a:extLst>
          </p:cNvPr>
          <p:cNvGrpSpPr/>
          <p:nvPr/>
        </p:nvGrpSpPr>
        <p:grpSpPr>
          <a:xfrm>
            <a:off x="261366" y="1285696"/>
            <a:ext cx="2230978" cy="4059936"/>
            <a:chOff x="7073615" y="816964"/>
            <a:chExt cx="2322576" cy="4059936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820291B-220F-55CF-C51B-1021AFB6F5A5}"/>
                </a:ext>
              </a:extLst>
            </p:cNvPr>
            <p:cNvSpPr/>
            <p:nvPr/>
          </p:nvSpPr>
          <p:spPr>
            <a:xfrm>
              <a:off x="7073615" y="816964"/>
              <a:ext cx="2322576" cy="4059936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E6CF25D-4584-9E29-14F3-4AB6477838D6}"/>
                </a:ext>
              </a:extLst>
            </p:cNvPr>
            <p:cNvSpPr txBox="1"/>
            <p:nvPr/>
          </p:nvSpPr>
          <p:spPr>
            <a:xfrm>
              <a:off x="7285862" y="2744418"/>
              <a:ext cx="1906871" cy="203132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Farmers achieve higher and more stable productivity, especially in drought-prone areas</a:t>
              </a:r>
            </a:p>
          </p:txBody>
        </p:sp>
        <p:pic>
          <p:nvPicPr>
            <p:cNvPr id="8" name="Picture 7" descr="A tree with veins and roots&#10;&#10;AI-generated content may be incorrect.">
              <a:extLst>
                <a:ext uri="{FF2B5EF4-FFF2-40B4-BE49-F238E27FC236}">
                  <a16:creationId xmlns:a16="http://schemas.microsoft.com/office/drawing/2014/main" id="{81A3845F-C3BD-D4DE-CC37-955BB4AF7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38458" y="1566855"/>
              <a:ext cx="792890" cy="1029071"/>
            </a:xfrm>
            <a:prstGeom prst="rect">
              <a:avLst/>
            </a:prstGeom>
            <a:grpFill/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5E34A4-CFE9-79D0-F2CB-C8445310E4BA}"/>
              </a:ext>
            </a:extLst>
          </p:cNvPr>
          <p:cNvGrpSpPr/>
          <p:nvPr/>
        </p:nvGrpSpPr>
        <p:grpSpPr>
          <a:xfrm>
            <a:off x="9685919" y="1285696"/>
            <a:ext cx="2230978" cy="4059936"/>
            <a:chOff x="9685919" y="1285696"/>
            <a:chExt cx="2230978" cy="405993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3357A76-CF43-E15A-BC18-6CB3EBEAAF7A}"/>
                </a:ext>
              </a:extLst>
            </p:cNvPr>
            <p:cNvGrpSpPr/>
            <p:nvPr/>
          </p:nvGrpSpPr>
          <p:grpSpPr>
            <a:xfrm>
              <a:off x="9685919" y="1285696"/>
              <a:ext cx="2230978" cy="4059936"/>
              <a:chOff x="9128888" y="1171265"/>
              <a:chExt cx="2322576" cy="4059936"/>
            </a:xfrm>
            <a:solidFill>
              <a:schemeClr val="accent6">
                <a:lumMod val="40000"/>
                <a:lumOff val="60000"/>
              </a:schemeClr>
            </a:solidFill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3F605245-F911-303E-FD01-A1BCC10703E4}"/>
                  </a:ext>
                </a:extLst>
              </p:cNvPr>
              <p:cNvGrpSpPr/>
              <p:nvPr/>
            </p:nvGrpSpPr>
            <p:grpSpPr>
              <a:xfrm>
                <a:off x="9128888" y="1171265"/>
                <a:ext cx="2322576" cy="4059936"/>
                <a:chOff x="7073615" y="816964"/>
                <a:chExt cx="2322576" cy="4059936"/>
              </a:xfrm>
              <a:grpFill/>
            </p:grpSpPr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190130D5-B1D8-950E-62C2-B9CB312F4B13}"/>
                    </a:ext>
                  </a:extLst>
                </p:cNvPr>
                <p:cNvSpPr/>
                <p:nvPr/>
              </p:nvSpPr>
              <p:spPr>
                <a:xfrm>
                  <a:off x="7073615" y="816964"/>
                  <a:ext cx="2322576" cy="4059936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17D4D08-875E-808E-4AE8-27AF8F26943A}"/>
                    </a:ext>
                  </a:extLst>
                </p:cNvPr>
                <p:cNvSpPr txBox="1"/>
                <p:nvPr/>
              </p:nvSpPr>
              <p:spPr>
                <a:xfrm>
                  <a:off x="7407371" y="2744419"/>
                  <a:ext cx="1655064" cy="1754326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Results feed into long-term strategies for resilience and recovery in agriculture</a:t>
                  </a:r>
                </a:p>
              </p:txBody>
            </p:sp>
          </p:grpSp>
          <p:pic>
            <p:nvPicPr>
              <p:cNvPr id="26" name="Graphic 25" descr="Crops with solid fill">
                <a:extLst>
                  <a:ext uri="{FF2B5EF4-FFF2-40B4-BE49-F238E27FC236}">
                    <a16:creationId xmlns:a16="http://schemas.microsoft.com/office/drawing/2014/main" id="{FB815D14-2625-726B-08A1-498078C275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832976" y="1872444"/>
                <a:ext cx="914400" cy="914400"/>
              </a:xfrm>
              <a:prstGeom prst="rect">
                <a:avLst/>
              </a:prstGeom>
            </p:spPr>
          </p:pic>
        </p:grpSp>
        <p:pic>
          <p:nvPicPr>
            <p:cNvPr id="36" name="Graphic 35" descr="Court with solid fill">
              <a:extLst>
                <a:ext uri="{FF2B5EF4-FFF2-40B4-BE49-F238E27FC236}">
                  <a16:creationId xmlns:a16="http://schemas.microsoft.com/office/drawing/2014/main" id="{940798B1-A1AC-DAF1-8BE3-1B74E972A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340903" y="2036952"/>
              <a:ext cx="914400" cy="914400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7730FC08-84FD-BFF8-482E-6BF2CEB18A0A}"/>
              </a:ext>
            </a:extLst>
          </p:cNvPr>
          <p:cNvSpPr txBox="1"/>
          <p:nvPr/>
        </p:nvSpPr>
        <p:spPr>
          <a:xfrm>
            <a:off x="9682614" y="1359263"/>
            <a:ext cx="2230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 Informed Policy &amp; Planning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67A70D1-5CEA-DD57-A873-85650C64C82B}"/>
              </a:ext>
            </a:extLst>
          </p:cNvPr>
          <p:cNvGrpSpPr/>
          <p:nvPr/>
        </p:nvGrpSpPr>
        <p:grpSpPr>
          <a:xfrm>
            <a:off x="4973642" y="1285696"/>
            <a:ext cx="2230978" cy="4059936"/>
            <a:chOff x="4973642" y="1285696"/>
            <a:chExt cx="2230978" cy="4059936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15651E1-0DF2-07F3-A921-FCBFF451B3F4}"/>
                </a:ext>
              </a:extLst>
            </p:cNvPr>
            <p:cNvGrpSpPr/>
            <p:nvPr/>
          </p:nvGrpSpPr>
          <p:grpSpPr>
            <a:xfrm>
              <a:off x="4973642" y="1285696"/>
              <a:ext cx="2230978" cy="4059936"/>
              <a:chOff x="7073615" y="816964"/>
              <a:chExt cx="2322576" cy="4059936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F27FDFF7-EC20-9B8D-7B00-513A3202198E}"/>
                  </a:ext>
                </a:extLst>
              </p:cNvPr>
              <p:cNvSpPr/>
              <p:nvPr/>
            </p:nvSpPr>
            <p:spPr>
              <a:xfrm>
                <a:off x="7073615" y="816964"/>
                <a:ext cx="2322576" cy="4059936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AC924C-7736-D0AE-A6AF-39CF0CBBCDA7}"/>
                  </a:ext>
                </a:extLst>
              </p:cNvPr>
              <p:cNvSpPr txBox="1"/>
              <p:nvPr/>
            </p:nvSpPr>
            <p:spPr>
              <a:xfrm>
                <a:off x="7203914" y="2676058"/>
                <a:ext cx="1988819" cy="203132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 national database links climate conditions with crop outcomes for future planning</a:t>
                </a: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8525433-991F-31CA-9031-5C82F1F08E1E}"/>
                </a:ext>
              </a:extLst>
            </p:cNvPr>
            <p:cNvSpPr txBox="1"/>
            <p:nvPr/>
          </p:nvSpPr>
          <p:spPr>
            <a:xfrm>
              <a:off x="5317639" y="1359263"/>
              <a:ext cx="1589791" cy="64633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Reliable Data Systems</a:t>
              </a:r>
            </a:p>
          </p:txBody>
        </p:sp>
        <p:pic>
          <p:nvPicPr>
            <p:cNvPr id="43" name="Graphic 42" descr="Database with solid fill">
              <a:extLst>
                <a:ext uri="{FF2B5EF4-FFF2-40B4-BE49-F238E27FC236}">
                  <a16:creationId xmlns:a16="http://schemas.microsoft.com/office/drawing/2014/main" id="{BBF9D67A-11AA-BF70-0269-B8B4CF274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38800" y="2060873"/>
              <a:ext cx="914400" cy="914400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6D94787-8F02-4005-CE28-8A28AF9A7DF3}"/>
              </a:ext>
            </a:extLst>
          </p:cNvPr>
          <p:cNvGrpSpPr/>
          <p:nvPr/>
        </p:nvGrpSpPr>
        <p:grpSpPr>
          <a:xfrm>
            <a:off x="2617504" y="1303666"/>
            <a:ext cx="2230978" cy="4059936"/>
            <a:chOff x="2617504" y="1303666"/>
            <a:chExt cx="2230978" cy="405993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37CCECF-E4D2-D8BC-E377-C1C822F0DE36}"/>
                </a:ext>
              </a:extLst>
            </p:cNvPr>
            <p:cNvGrpSpPr/>
            <p:nvPr/>
          </p:nvGrpSpPr>
          <p:grpSpPr>
            <a:xfrm>
              <a:off x="2617504" y="1303666"/>
              <a:ext cx="2230978" cy="4059936"/>
              <a:chOff x="7073615" y="816964"/>
              <a:chExt cx="2322576" cy="4059936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28708673-BC92-AF6D-D293-CD0DE0CDA855}"/>
                  </a:ext>
                </a:extLst>
              </p:cNvPr>
              <p:cNvSpPr/>
              <p:nvPr/>
            </p:nvSpPr>
            <p:spPr>
              <a:xfrm>
                <a:off x="7073615" y="816964"/>
                <a:ext cx="2322576" cy="4059936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83B794-BDFE-5EE8-F813-4A52A0DA1797}"/>
                  </a:ext>
                </a:extLst>
              </p:cNvPr>
              <p:cNvSpPr txBox="1"/>
              <p:nvPr/>
            </p:nvSpPr>
            <p:spPr>
              <a:xfrm>
                <a:off x="7407371" y="2744419"/>
                <a:ext cx="1655064" cy="203132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Farmers, engineers, and students gain hands-on experience with climate-smart tools</a:t>
                </a: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E4B79B7-63CC-CE1B-B6F8-A85BCA56958C}"/>
                </a:ext>
              </a:extLst>
            </p:cNvPr>
            <p:cNvSpPr txBox="1"/>
            <p:nvPr/>
          </p:nvSpPr>
          <p:spPr>
            <a:xfrm>
              <a:off x="2931300" y="1403835"/>
              <a:ext cx="1589791" cy="64633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 Trained Local Experts</a:t>
              </a:r>
            </a:p>
          </p:txBody>
        </p:sp>
        <p:pic>
          <p:nvPicPr>
            <p:cNvPr id="48" name="Graphic 47" descr="Farmer male with solid fill">
              <a:extLst>
                <a:ext uri="{FF2B5EF4-FFF2-40B4-BE49-F238E27FC236}">
                  <a16:creationId xmlns:a16="http://schemas.microsoft.com/office/drawing/2014/main" id="{0FC7B6ED-1357-2A76-11A9-5204EC347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273913" y="2068854"/>
              <a:ext cx="914400" cy="914400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59F623F0-70DA-3EFE-334D-26D09FE0FEA6}"/>
              </a:ext>
            </a:extLst>
          </p:cNvPr>
          <p:cNvSpPr txBox="1"/>
          <p:nvPr/>
        </p:nvSpPr>
        <p:spPr>
          <a:xfrm>
            <a:off x="581959" y="1350119"/>
            <a:ext cx="1589791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Improved Crop Yields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E6F149D-0FB8-71FA-FC44-F213D3611AEA}"/>
              </a:ext>
            </a:extLst>
          </p:cNvPr>
          <p:cNvGrpSpPr/>
          <p:nvPr/>
        </p:nvGrpSpPr>
        <p:grpSpPr>
          <a:xfrm>
            <a:off x="7329780" y="1285696"/>
            <a:ext cx="2230978" cy="4059936"/>
            <a:chOff x="7329780" y="1285696"/>
            <a:chExt cx="2230978" cy="405993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D1A6FC5-8BAF-6989-27A0-3B55D5795393}"/>
                </a:ext>
              </a:extLst>
            </p:cNvPr>
            <p:cNvGrpSpPr/>
            <p:nvPr/>
          </p:nvGrpSpPr>
          <p:grpSpPr>
            <a:xfrm>
              <a:off x="7329780" y="1285696"/>
              <a:ext cx="2230978" cy="4059936"/>
              <a:chOff x="7073615" y="816964"/>
              <a:chExt cx="2322576" cy="4059936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C4375958-48DB-3363-6155-89834C50319D}"/>
                  </a:ext>
                </a:extLst>
              </p:cNvPr>
              <p:cNvSpPr/>
              <p:nvPr/>
            </p:nvSpPr>
            <p:spPr>
              <a:xfrm>
                <a:off x="7073615" y="816964"/>
                <a:ext cx="2322576" cy="4059936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635918F-7D80-49F9-EB67-EF22552C174F}"/>
                  </a:ext>
                </a:extLst>
              </p:cNvPr>
              <p:cNvSpPr txBox="1"/>
              <p:nvPr/>
            </p:nvSpPr>
            <p:spPr>
              <a:xfrm>
                <a:off x="7379486" y="2744419"/>
                <a:ext cx="1804457" cy="203132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Smart irrigation and moisture monitoring reduce water waste and increase efficiency</a:t>
                </a: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CCC6702-2C78-788E-DE12-FA19039FB3B8}"/>
                </a:ext>
              </a:extLst>
            </p:cNvPr>
            <p:cNvSpPr txBox="1"/>
            <p:nvPr/>
          </p:nvSpPr>
          <p:spPr>
            <a:xfrm>
              <a:off x="7578621" y="1403835"/>
              <a:ext cx="1733293" cy="64633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 Better Water Use</a:t>
              </a:r>
            </a:p>
          </p:txBody>
        </p:sp>
        <p:pic>
          <p:nvPicPr>
            <p:cNvPr id="54" name="Graphic 53" descr="Watering pot with solid fill">
              <a:extLst>
                <a:ext uri="{FF2B5EF4-FFF2-40B4-BE49-F238E27FC236}">
                  <a16:creationId xmlns:a16="http://schemas.microsoft.com/office/drawing/2014/main" id="{E5F90120-E6DD-6E2C-0457-4FBA9EF95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964509" y="2068854"/>
              <a:ext cx="1030513" cy="10305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1338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A69611F-EB48-BBA3-1A00-16315ECB1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232"/>
            <a:ext cx="8696864" cy="937464"/>
          </a:xfrm>
        </p:spPr>
        <p:txBody>
          <a:bodyPr/>
          <a:lstStyle/>
          <a:p>
            <a:r>
              <a:rPr lang="en-US" dirty="0"/>
              <a:t>Damage and Losses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FDB832-18A8-8DD1-D5CE-B9BCA21BD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764156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Ahmed Ibrahim Almohamed | SGRD e.V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1F97E-0FCB-1F78-4908-05772907B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A565AB-231A-489D-AE6D-9935C8B13F85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FB968C7-9F23-29BC-4377-0556D4EEE4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0504195"/>
              </p:ext>
            </p:extLst>
          </p:nvPr>
        </p:nvGraphicFramePr>
        <p:xfrm>
          <a:off x="2279813" y="1002681"/>
          <a:ext cx="7503064" cy="4852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CF1E132-8A40-6936-71B9-3710CABF2E8D}"/>
              </a:ext>
            </a:extLst>
          </p:cNvPr>
          <p:cNvSpPr txBox="1"/>
          <p:nvPr/>
        </p:nvSpPr>
        <p:spPr>
          <a:xfrm>
            <a:off x="5509861" y="5864555"/>
            <a:ext cx="117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FAO 2017</a:t>
            </a:r>
          </a:p>
        </p:txBody>
      </p:sp>
    </p:spTree>
    <p:extLst>
      <p:ext uri="{BB962C8B-B14F-4D97-AF65-F5344CB8AC3E}">
        <p14:creationId xmlns:p14="http://schemas.microsoft.com/office/powerpoint/2010/main" val="2730993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00FA819-89F7-F956-4952-CD27B1718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232"/>
            <a:ext cx="8696864" cy="937464"/>
          </a:xfrm>
        </p:spPr>
        <p:txBody>
          <a:bodyPr/>
          <a:lstStyle/>
          <a:p>
            <a:r>
              <a:rPr lang="en-US" dirty="0"/>
              <a:t>Framer shortage</a:t>
            </a:r>
          </a:p>
        </p:txBody>
      </p:sp>
      <p:pic>
        <p:nvPicPr>
          <p:cNvPr id="5" name="Picture 4" descr="A graph of different colored columns&#10;&#10;AI-generated content may be incorrect.">
            <a:extLst>
              <a:ext uri="{FF2B5EF4-FFF2-40B4-BE49-F238E27FC236}">
                <a16:creationId xmlns:a16="http://schemas.microsoft.com/office/drawing/2014/main" id="{6D54941B-B50A-EA5C-70C5-3C84AE9ED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271" y="1645353"/>
            <a:ext cx="5189458" cy="4351338"/>
          </a:xfrm>
          <a:prstGeom prst="rect">
            <a:avLst/>
          </a:prstGeom>
          <a:noFill/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69A5B5-5D43-F013-2868-0D04814DB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764156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Ahmed Ibrahim Almohamed | SGRD e.V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7CD19-DF46-AE9A-7EC0-9CF2C39E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A565AB-231A-489D-AE6D-9935C8B13F85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756FF8-A986-5CF9-84A8-F19F1ED0EE97}"/>
              </a:ext>
            </a:extLst>
          </p:cNvPr>
          <p:cNvSpPr txBox="1"/>
          <p:nvPr/>
        </p:nvSpPr>
        <p:spPr>
          <a:xfrm>
            <a:off x="5663381" y="5722374"/>
            <a:ext cx="1465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FAO 2017</a:t>
            </a:r>
          </a:p>
        </p:txBody>
      </p:sp>
    </p:spTree>
    <p:extLst>
      <p:ext uri="{BB962C8B-B14F-4D97-AF65-F5344CB8AC3E}">
        <p14:creationId xmlns:p14="http://schemas.microsoft.com/office/powerpoint/2010/main" val="2168706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D7697-0AA5-2780-D897-80EA0732A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Drought and climate change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A848D0-6C90-71DE-602F-E710297C4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Ahmed Ibrahim Almohamed | SGRD e.V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756BE-69B0-BA22-6637-714B22D66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65AB-231A-489D-AE6D-9935C8B13F85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 descr="A screenshot of a screen&#10;&#10;AI-generated content may be incorrect.">
            <a:extLst>
              <a:ext uri="{FF2B5EF4-FFF2-40B4-BE49-F238E27FC236}">
                <a16:creationId xmlns:a16="http://schemas.microsoft.com/office/drawing/2014/main" id="{93545769-FB34-51BB-00D1-415E752794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71" y="1782109"/>
            <a:ext cx="4921447" cy="3293781"/>
          </a:xfrm>
          <a:prstGeom prst="rect">
            <a:avLst/>
          </a:prstGeom>
        </p:spPr>
      </p:pic>
      <p:pic>
        <p:nvPicPr>
          <p:cNvPr id="7" name="Picture 6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88F499A7-C580-D270-0622-4E6469FA1F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721" y="1782109"/>
            <a:ext cx="5837757" cy="35027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863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557B56-88DD-4E7E-EA34-7E5CF9B83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Ahmed Ibrahim Almohamed | SGRD e.V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2BA0E5-A9B3-5283-6E5D-480145F33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65AB-231A-489D-AE6D-9935C8B13F85}" type="slidenum">
              <a:rPr lang="en-US" smtClean="0"/>
              <a:t>9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3B311B0-3E7E-2E96-89C7-6F112E4319C3}"/>
              </a:ext>
            </a:extLst>
          </p:cNvPr>
          <p:cNvGrpSpPr/>
          <p:nvPr/>
        </p:nvGrpSpPr>
        <p:grpSpPr>
          <a:xfrm>
            <a:off x="296418" y="813816"/>
            <a:ext cx="11599165" cy="5230368"/>
            <a:chOff x="296418" y="813816"/>
            <a:chExt cx="11599165" cy="523036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002C034-2707-B77D-6FBE-C20A230F0724}"/>
                </a:ext>
              </a:extLst>
            </p:cNvPr>
            <p:cNvGrpSpPr/>
            <p:nvPr/>
          </p:nvGrpSpPr>
          <p:grpSpPr>
            <a:xfrm>
              <a:off x="3666118" y="813816"/>
              <a:ext cx="4859764" cy="5230368"/>
              <a:chOff x="3028705" y="1681362"/>
              <a:chExt cx="4859764" cy="5230368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74B96C26-6440-396D-5A0C-C89E641123D3}"/>
                  </a:ext>
                </a:extLst>
              </p:cNvPr>
              <p:cNvSpPr/>
              <p:nvPr/>
            </p:nvSpPr>
            <p:spPr>
              <a:xfrm>
                <a:off x="3028705" y="1681362"/>
                <a:ext cx="4859764" cy="5230368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5C70347-3947-8B34-0B22-F275588D74EA}"/>
                  </a:ext>
                </a:extLst>
              </p:cNvPr>
              <p:cNvGrpSpPr/>
              <p:nvPr/>
            </p:nvGrpSpPr>
            <p:grpSpPr>
              <a:xfrm>
                <a:off x="4525899" y="1943148"/>
                <a:ext cx="1865376" cy="1498465"/>
                <a:chOff x="5199507" y="2532994"/>
                <a:chExt cx="1865376" cy="1498465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804249C5-37F1-6811-1B58-9E676E24E4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583555" y="2934179"/>
                  <a:ext cx="1097280" cy="1097280"/>
                </a:xfrm>
                <a:prstGeom prst="rect">
                  <a:avLst/>
                </a:prstGeom>
              </p:spPr>
            </p:pic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8DCD77D-0582-70D7-890F-3635606FB1B0}"/>
                    </a:ext>
                  </a:extLst>
                </p:cNvPr>
                <p:cNvSpPr txBox="1"/>
                <p:nvPr/>
              </p:nvSpPr>
              <p:spPr>
                <a:xfrm>
                  <a:off x="5199507" y="2532994"/>
                  <a:ext cx="18653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Framework</a:t>
                  </a:r>
                </a:p>
              </p:txBody>
            </p:sp>
          </p:grp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1335F8E-B06B-093D-B625-64AB68F79629}"/>
                </a:ext>
              </a:extLst>
            </p:cNvPr>
            <p:cNvGrpSpPr/>
            <p:nvPr/>
          </p:nvGrpSpPr>
          <p:grpSpPr>
            <a:xfrm>
              <a:off x="296418" y="930402"/>
              <a:ext cx="2318385" cy="4880610"/>
              <a:chOff x="296418" y="1046988"/>
              <a:chExt cx="2711958" cy="4764024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28B5D080-E8EC-9D0B-4268-79BE57279D14}"/>
                  </a:ext>
                </a:extLst>
              </p:cNvPr>
              <p:cNvSpPr/>
              <p:nvPr/>
            </p:nvSpPr>
            <p:spPr>
              <a:xfrm>
                <a:off x="296418" y="1046988"/>
                <a:ext cx="2711958" cy="4764024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4BA732F-193E-9C5D-D37C-3479E3ADA42F}"/>
                  </a:ext>
                </a:extLst>
              </p:cNvPr>
              <p:cNvSpPr txBox="1"/>
              <p:nvPr/>
            </p:nvSpPr>
            <p:spPr>
              <a:xfrm>
                <a:off x="669416" y="1188720"/>
                <a:ext cx="1965960" cy="384048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Inputs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EB4676F-EE16-A0A5-F0EC-41E91E2D79FE}"/>
                </a:ext>
              </a:extLst>
            </p:cNvPr>
            <p:cNvGrpSpPr/>
            <p:nvPr/>
          </p:nvGrpSpPr>
          <p:grpSpPr>
            <a:xfrm>
              <a:off x="9051541" y="988694"/>
              <a:ext cx="2844042" cy="5055489"/>
              <a:chOff x="296418" y="1046988"/>
              <a:chExt cx="2711958" cy="4764024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269479B-7E39-B97E-BADA-BE52FAD7A885}"/>
                  </a:ext>
                </a:extLst>
              </p:cNvPr>
              <p:cNvSpPr/>
              <p:nvPr/>
            </p:nvSpPr>
            <p:spPr>
              <a:xfrm>
                <a:off x="296418" y="1046988"/>
                <a:ext cx="2711958" cy="4764024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6913FE2-612B-172B-3AA1-B6ED6A23A6F2}"/>
                  </a:ext>
                </a:extLst>
              </p:cNvPr>
              <p:cNvSpPr txBox="1"/>
              <p:nvPr/>
            </p:nvSpPr>
            <p:spPr>
              <a:xfrm>
                <a:off x="669416" y="1188720"/>
                <a:ext cx="1965960" cy="360510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Outputs</a:t>
                </a:r>
              </a:p>
            </p:txBody>
          </p:sp>
        </p:grp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A71A8FA-D234-6928-12A9-A002221C75FE}"/>
                </a:ext>
              </a:extLst>
            </p:cNvPr>
            <p:cNvSpPr/>
            <p:nvPr/>
          </p:nvSpPr>
          <p:spPr>
            <a:xfrm>
              <a:off x="382047" y="2014385"/>
              <a:ext cx="2147126" cy="737959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Fundings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EE23AAE-316D-EC88-5081-3530F75A3180}"/>
                </a:ext>
              </a:extLst>
            </p:cNvPr>
            <p:cNvSpPr/>
            <p:nvPr/>
          </p:nvSpPr>
          <p:spPr>
            <a:xfrm>
              <a:off x="382047" y="3001727"/>
              <a:ext cx="2147126" cy="737959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Technical expertise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3FD5C90-EB6F-BDEE-66C2-A0849B7A33AD}"/>
                </a:ext>
              </a:extLst>
            </p:cNvPr>
            <p:cNvSpPr/>
            <p:nvPr/>
          </p:nvSpPr>
          <p:spPr>
            <a:xfrm>
              <a:off x="382047" y="3989069"/>
              <a:ext cx="2147126" cy="737959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Resources</a:t>
              </a:r>
            </a:p>
          </p:txBody>
        </p:sp>
        <p:sp>
          <p:nvSpPr>
            <p:cNvPr id="34" name="Arrow: Right 33">
              <a:extLst>
                <a:ext uri="{FF2B5EF4-FFF2-40B4-BE49-F238E27FC236}">
                  <a16:creationId xmlns:a16="http://schemas.microsoft.com/office/drawing/2014/main" id="{5C8A1B36-8D58-7090-4469-C4EC35BBF2B0}"/>
                </a:ext>
              </a:extLst>
            </p:cNvPr>
            <p:cNvSpPr/>
            <p:nvPr/>
          </p:nvSpPr>
          <p:spPr>
            <a:xfrm>
              <a:off x="2407794" y="982437"/>
              <a:ext cx="1518944" cy="1005840"/>
            </a:xfrm>
            <a:prstGeom prst="rightArrow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8A23CCF-B2CC-F85C-A5AC-F9C56CFF8739}"/>
                </a:ext>
              </a:extLst>
            </p:cNvPr>
            <p:cNvSpPr/>
            <p:nvPr/>
          </p:nvSpPr>
          <p:spPr>
            <a:xfrm>
              <a:off x="3948418" y="3419645"/>
              <a:ext cx="1309382" cy="56942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Field surveys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7A56D9E-BD99-49C2-3101-E16A861F4BCF}"/>
                </a:ext>
              </a:extLst>
            </p:cNvPr>
            <p:cNvCxnSpPr>
              <a:cxnSpLocks/>
            </p:cNvCxnSpPr>
            <p:nvPr/>
          </p:nvCxnSpPr>
          <p:spPr>
            <a:xfrm>
              <a:off x="4910471" y="3118104"/>
              <a:ext cx="237105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638491F-087D-EE56-7DED-6F301153C0C3}"/>
                </a:ext>
              </a:extLst>
            </p:cNvPr>
            <p:cNvCxnSpPr>
              <a:cxnSpLocks/>
            </p:cNvCxnSpPr>
            <p:nvPr/>
          </p:nvCxnSpPr>
          <p:spPr>
            <a:xfrm>
              <a:off x="4910471" y="3197352"/>
              <a:ext cx="237105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3B131C4-1FAD-FCA6-C7D2-96472D676993}"/>
                </a:ext>
              </a:extLst>
            </p:cNvPr>
            <p:cNvSpPr txBox="1"/>
            <p:nvPr/>
          </p:nvSpPr>
          <p:spPr>
            <a:xfrm>
              <a:off x="5126212" y="2705648"/>
              <a:ext cx="19395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Activities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DA6E466-9698-CEEA-E49F-938A9EC95E19}"/>
                </a:ext>
              </a:extLst>
            </p:cNvPr>
            <p:cNvSpPr/>
            <p:nvPr/>
          </p:nvSpPr>
          <p:spPr>
            <a:xfrm>
              <a:off x="5441309" y="3419644"/>
              <a:ext cx="1309382" cy="56942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Satellite analysis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D0B779B-1099-8F58-3338-119ADA6839C1}"/>
                </a:ext>
              </a:extLst>
            </p:cNvPr>
            <p:cNvSpPr/>
            <p:nvPr/>
          </p:nvSpPr>
          <p:spPr>
            <a:xfrm>
              <a:off x="6897632" y="3419643"/>
              <a:ext cx="1309382" cy="56942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 modeling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48CACE9-D5FC-E53F-1452-5C701B8EB0E5}"/>
                </a:ext>
              </a:extLst>
            </p:cNvPr>
            <p:cNvSpPr/>
            <p:nvPr/>
          </p:nvSpPr>
          <p:spPr>
            <a:xfrm>
              <a:off x="3948418" y="4050983"/>
              <a:ext cx="4258596" cy="41129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Pilot trials of climate-smart farming 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C42932C-7287-C7BE-C3DD-8E2647120AB1}"/>
                </a:ext>
              </a:extLst>
            </p:cNvPr>
            <p:cNvSpPr/>
            <p:nvPr/>
          </p:nvSpPr>
          <p:spPr>
            <a:xfrm>
              <a:off x="3948418" y="4520112"/>
              <a:ext cx="1309382" cy="56942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Farmer training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B6DE41E-C535-A7CC-CB90-B4317E3D14F1}"/>
                </a:ext>
              </a:extLst>
            </p:cNvPr>
            <p:cNvSpPr/>
            <p:nvPr/>
          </p:nvSpPr>
          <p:spPr>
            <a:xfrm>
              <a:off x="5335258" y="4520112"/>
              <a:ext cx="2871756" cy="56942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Community workshops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8032EB5-98E0-D127-159F-910BB6DE931F}"/>
                </a:ext>
              </a:extLst>
            </p:cNvPr>
            <p:cNvSpPr/>
            <p:nvPr/>
          </p:nvSpPr>
          <p:spPr>
            <a:xfrm>
              <a:off x="3948418" y="5147377"/>
              <a:ext cx="4258596" cy="56942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Repair of irrigation systems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40174CD-3192-3AA6-7535-82B62F33C535}"/>
                </a:ext>
              </a:extLst>
            </p:cNvPr>
            <p:cNvSpPr/>
            <p:nvPr/>
          </p:nvSpPr>
          <p:spPr>
            <a:xfrm>
              <a:off x="9098106" y="1619298"/>
              <a:ext cx="2758413" cy="737959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Adoption of resilient farming practices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DECF409-EFBA-CC4D-D136-E28F895948FC}"/>
                </a:ext>
              </a:extLst>
            </p:cNvPr>
            <p:cNvSpPr/>
            <p:nvPr/>
          </p:nvSpPr>
          <p:spPr>
            <a:xfrm>
              <a:off x="9098106" y="2405584"/>
              <a:ext cx="2758413" cy="737959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Increased crop yields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16C0FD3D-74AF-2617-8120-9E741DCE1C50}"/>
                </a:ext>
              </a:extLst>
            </p:cNvPr>
            <p:cNvSpPr/>
            <p:nvPr/>
          </p:nvSpPr>
          <p:spPr>
            <a:xfrm>
              <a:off x="9098106" y="3978156"/>
              <a:ext cx="2758413" cy="737959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Improved water-use efficiency</a:t>
              </a: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91B6DAB-511D-D616-5315-F5CB51FA2C04}"/>
                </a:ext>
              </a:extLst>
            </p:cNvPr>
            <p:cNvSpPr/>
            <p:nvPr/>
          </p:nvSpPr>
          <p:spPr>
            <a:xfrm>
              <a:off x="9098106" y="4764442"/>
              <a:ext cx="2758413" cy="737959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National-wide database for farming and climate data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C7E079E-52FF-38DD-1BD1-033C99C8D9E6}"/>
                </a:ext>
              </a:extLst>
            </p:cNvPr>
            <p:cNvSpPr/>
            <p:nvPr/>
          </p:nvSpPr>
          <p:spPr>
            <a:xfrm>
              <a:off x="9098106" y="3191870"/>
              <a:ext cx="2758413" cy="737959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Strengthened farmer networks and local research capacity</a:t>
              </a:r>
            </a:p>
          </p:txBody>
        </p: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CC064C03-E9A9-D8E5-1BDE-76183DE03320}"/>
                </a:ext>
              </a:extLst>
            </p:cNvPr>
            <p:cNvSpPr/>
            <p:nvPr/>
          </p:nvSpPr>
          <p:spPr>
            <a:xfrm>
              <a:off x="7877416" y="930402"/>
              <a:ext cx="1518944" cy="1005840"/>
            </a:xfrm>
            <a:prstGeom prst="rightArrow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4D2BEDF-60A4-BF24-5ADF-E1C4CD5413C4}"/>
                </a:ext>
              </a:extLst>
            </p:cNvPr>
            <p:cNvSpPr txBox="1"/>
            <p:nvPr/>
          </p:nvSpPr>
          <p:spPr>
            <a:xfrm>
              <a:off x="1281874" y="4764442"/>
              <a:ext cx="3474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.</a:t>
              </a:r>
            </a:p>
            <a:p>
              <a:pPr algn="ctr"/>
              <a:r>
                <a:rPr lang="en-US" dirty="0"/>
                <a:t>.</a:t>
              </a:r>
            </a:p>
            <a:p>
              <a:pPr algn="ctr"/>
              <a:r>
                <a:rPr lang="en-US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7798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446</Words>
  <Application>Microsoft Office PowerPoint</Application>
  <PresentationFormat>Widescreen</PresentationFormat>
  <Paragraphs>106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Climate Resilience &amp; Agricultural Recovery in Syria</vt:lpstr>
      <vt:lpstr>Problem Overview </vt:lpstr>
      <vt:lpstr>Solution Framework</vt:lpstr>
      <vt:lpstr>Framework in Action</vt:lpstr>
      <vt:lpstr>Expected results</vt:lpstr>
      <vt:lpstr>Damage and Losses</vt:lpstr>
      <vt:lpstr>Framer shortage</vt:lpstr>
      <vt:lpstr>Drought and climate change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Ibrahim Almohamed, Ahmed</dc:creator>
  <cp:lastModifiedBy>Ibrahim Almohamed, Ahmed</cp:lastModifiedBy>
  <cp:revision>212</cp:revision>
  <dcterms:created xsi:type="dcterms:W3CDTF">2025-05-15T12:49:19Z</dcterms:created>
  <dcterms:modified xsi:type="dcterms:W3CDTF">2025-05-17T09:53:56Z</dcterms:modified>
</cp:coreProperties>
</file>